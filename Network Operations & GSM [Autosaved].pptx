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538C0-2E96-4F44-9F31-47FEE16D9F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21668-75FA-489A-BE38-BA9CE901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60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02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38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20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33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53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25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75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44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51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04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2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888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175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340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11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778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665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57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EB5C37-235C-4BF1-B31A-BFEDCB3951D7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10BB8-3A6A-4E5E-9BEC-8587C3313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459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5126-42A9-BEE2-4F87-65C0FA4BD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622" y="2497666"/>
            <a:ext cx="7311712" cy="1862667"/>
          </a:xfrm>
        </p:spPr>
        <p:txBody>
          <a:bodyPr/>
          <a:lstStyle/>
          <a:p>
            <a:pPr marL="0" indent="0">
              <a:lnSpc>
                <a:spcPct val="1100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Operations &amp; GSM</a:t>
            </a:r>
            <a:br>
              <a:rPr lang="en-US" sz="4000" dirty="0"/>
            </a:b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COMM4 Telecom Pvt. Ltd.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B7C65-76E5-DE08-D682-AAB9D8698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622" y="4091581"/>
            <a:ext cx="8825658" cy="861420"/>
          </a:xfrm>
        </p:spPr>
        <p:txBody>
          <a:bodyPr/>
          <a:lstStyle/>
          <a:p>
            <a:r>
              <a:rPr lang="en-US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B8C3C-E5D8-F3FE-6CA1-1C003A876286}"/>
              </a:ext>
            </a:extLst>
          </p:cNvPr>
          <p:cNvSpPr txBox="1"/>
          <p:nvPr/>
        </p:nvSpPr>
        <p:spPr>
          <a:xfrm>
            <a:off x="985622" y="45222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Shivi Panchal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23A26-6375-E0B9-716D-8C1261326C1B}"/>
              </a:ext>
            </a:extLst>
          </p:cNvPr>
          <p:cNvSpPr txBox="1"/>
          <p:nvPr/>
        </p:nvSpPr>
        <p:spPr>
          <a:xfrm>
            <a:off x="985622" y="4968765"/>
            <a:ext cx="609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Computer Science &amp; Engineering — IILM University, Greater Noida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4F5ED-468C-60FD-0BA1-39538A4EC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8" y="180725"/>
            <a:ext cx="998307" cy="1539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4AFA80-E805-975E-B6F0-5AAE3548D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813" y="180725"/>
            <a:ext cx="4138933" cy="142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9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3B4B-DFD3-4D84-1384-0D8BCDB8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About COMM4 Telecom Pvt. Ltd.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4B3E-E491-8510-ED22-60D0D872C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6095999" cy="4195481"/>
          </a:xfrm>
        </p:spPr>
        <p:txBody>
          <a:bodyPr/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COMM4 Telecom Pvt. Ltd.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 a telecom infrastructure and networking solutions company, operating out of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iThum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Tower, Sector-62, Noida, with a registered office in Delhi.</a:t>
            </a:r>
            <a:endParaRPr lang="en-US" dirty="0"/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DDFD35-67D1-787A-3AF9-B86D5540EECF}"/>
              </a:ext>
            </a:extLst>
          </p:cNvPr>
          <p:cNvSpPr/>
          <p:nvPr/>
        </p:nvSpPr>
        <p:spPr>
          <a:xfrm>
            <a:off x="7806267" y="1920981"/>
            <a:ext cx="3962401" cy="412421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F3AD4-20A7-C3FC-6B1E-16B82580BEF8}"/>
              </a:ext>
            </a:extLst>
          </p:cNvPr>
          <p:cNvSpPr txBox="1"/>
          <p:nvPr/>
        </p:nvSpPr>
        <p:spPr>
          <a:xfrm>
            <a:off x="1103311" y="5097028"/>
            <a:ext cx="6096000" cy="62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works in the telecom domain, covering network infrastructure and operations that support mobile and telecom connectivity.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BCAFF-D3FF-083A-1F55-A95C7ECDE445}"/>
              </a:ext>
            </a:extLst>
          </p:cNvPr>
          <p:cNvSpPr txBox="1"/>
          <p:nvPr/>
        </p:nvSpPr>
        <p:spPr>
          <a:xfrm>
            <a:off x="8040688" y="231511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91B17-440C-703E-660B-2F5B570028BA}"/>
              </a:ext>
            </a:extLst>
          </p:cNvPr>
          <p:cNvSpPr txBox="1"/>
          <p:nvPr/>
        </p:nvSpPr>
        <p:spPr>
          <a:xfrm>
            <a:off x="8191623" y="2677886"/>
            <a:ext cx="71540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Infrastructure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B489C-D5DE-C1C7-3E25-C626B8AA0303}"/>
              </a:ext>
            </a:extLst>
          </p:cNvPr>
          <p:cNvSpPr txBox="1"/>
          <p:nvPr/>
        </p:nvSpPr>
        <p:spPr>
          <a:xfrm>
            <a:off x="8040688" y="3487617"/>
            <a:ext cx="7672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A5819-A737-9862-EC67-532859D2D666}"/>
              </a:ext>
            </a:extLst>
          </p:cNvPr>
          <p:cNvSpPr txBox="1"/>
          <p:nvPr/>
        </p:nvSpPr>
        <p:spPr>
          <a:xfrm>
            <a:off x="8191623" y="3858270"/>
            <a:ext cx="785513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Sector-62, Noida (Corp. Office)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C10CA-F962-B51D-6A88-29F7FFD99249}"/>
              </a:ext>
            </a:extLst>
          </p:cNvPr>
          <p:cNvSpPr txBox="1"/>
          <p:nvPr/>
        </p:nvSpPr>
        <p:spPr>
          <a:xfrm>
            <a:off x="8040688" y="4460066"/>
            <a:ext cx="8024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TRACK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E6B158-8281-A2CF-3C43-92632F17923B}"/>
              </a:ext>
            </a:extLst>
          </p:cNvPr>
          <p:cNvSpPr txBox="1"/>
          <p:nvPr/>
        </p:nvSpPr>
        <p:spPr>
          <a:xfrm>
            <a:off x="8191623" y="4877196"/>
            <a:ext cx="80336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1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1FBE-4725-A00C-692C-A56AD02F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chemeClr val="tx1"/>
                </a:solidFill>
                <a:latin typeface="Californian FB" panose="0207040306080B030204" pitchFamily="18" charset="0"/>
                <a:ea typeface="Cambria" pitchFamily="34" charset="-122"/>
                <a:cs typeface="Cambria" pitchFamily="34" charset="-120"/>
              </a:rPr>
              <a:t>           Objective of the Internship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22AC1DA-CB8F-2241-1286-98C095E44DD0}"/>
              </a:ext>
            </a:extLst>
          </p:cNvPr>
          <p:cNvSpPr/>
          <p:nvPr/>
        </p:nvSpPr>
        <p:spPr>
          <a:xfrm>
            <a:off x="499533" y="2497667"/>
            <a:ext cx="2345267" cy="3166533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B15752B3-B5A8-47D5-EB43-919F3A1AC7E6}"/>
              </a:ext>
            </a:extLst>
          </p:cNvPr>
          <p:cNvSpPr/>
          <p:nvPr/>
        </p:nvSpPr>
        <p:spPr>
          <a:xfrm>
            <a:off x="3149599" y="2497667"/>
            <a:ext cx="2345267" cy="3166533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3AF9E712-A6FE-2696-0C50-02F729649210}"/>
              </a:ext>
            </a:extLst>
          </p:cNvPr>
          <p:cNvSpPr/>
          <p:nvPr/>
        </p:nvSpPr>
        <p:spPr>
          <a:xfrm>
            <a:off x="5799665" y="2497667"/>
            <a:ext cx="2345267" cy="3166533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BC717451-2AF1-678D-79CD-B53A38186835}"/>
              </a:ext>
            </a:extLst>
          </p:cNvPr>
          <p:cNvSpPr/>
          <p:nvPr/>
        </p:nvSpPr>
        <p:spPr>
          <a:xfrm>
            <a:off x="8449731" y="2497667"/>
            <a:ext cx="2345267" cy="3166533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80968F7A-A54F-8C42-22A8-C5727645F555}"/>
              </a:ext>
            </a:extLst>
          </p:cNvPr>
          <p:cNvSpPr/>
          <p:nvPr/>
        </p:nvSpPr>
        <p:spPr>
          <a:xfrm>
            <a:off x="646111" y="2742248"/>
            <a:ext cx="488422" cy="516466"/>
          </a:xfrm>
          <a:prstGeom prst="flowChartConnector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113F8594-0DE3-F919-403D-CA1F7C124C76}"/>
              </a:ext>
            </a:extLst>
          </p:cNvPr>
          <p:cNvSpPr/>
          <p:nvPr/>
        </p:nvSpPr>
        <p:spPr>
          <a:xfrm>
            <a:off x="8613245" y="2694729"/>
            <a:ext cx="488422" cy="516466"/>
          </a:xfrm>
          <a:prstGeom prst="flowChartConnector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05E40EDD-F9A0-5C83-AE66-5A625B5D067C}"/>
              </a:ext>
            </a:extLst>
          </p:cNvPr>
          <p:cNvSpPr/>
          <p:nvPr/>
        </p:nvSpPr>
        <p:spPr>
          <a:xfrm>
            <a:off x="5954711" y="2694729"/>
            <a:ext cx="488422" cy="516466"/>
          </a:xfrm>
          <a:prstGeom prst="flowChartConnector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3EB68A95-FE48-75DB-6DAF-12EB1A7272C5}"/>
              </a:ext>
            </a:extLst>
          </p:cNvPr>
          <p:cNvSpPr/>
          <p:nvPr/>
        </p:nvSpPr>
        <p:spPr>
          <a:xfrm>
            <a:off x="3303322" y="2733781"/>
            <a:ext cx="488422" cy="516466"/>
          </a:xfrm>
          <a:prstGeom prst="flowChartConnector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8AA56F-34CA-3ACA-4EFA-DCB24EC8B33B}"/>
              </a:ext>
            </a:extLst>
          </p:cNvPr>
          <p:cNvSpPr txBox="1"/>
          <p:nvPr/>
        </p:nvSpPr>
        <p:spPr>
          <a:xfrm>
            <a:off x="770043" y="3341712"/>
            <a:ext cx="20404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Exposure</a:t>
            </a:r>
            <a:endParaRPr lang="en-US" sz="1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D75EC8-E80C-8DC0-7D54-1310FFDCAAF0}"/>
              </a:ext>
            </a:extLst>
          </p:cNvPr>
          <p:cNvSpPr txBox="1"/>
          <p:nvPr/>
        </p:nvSpPr>
        <p:spPr>
          <a:xfrm>
            <a:off x="3547533" y="3330755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Networking Concepts</a:t>
            </a:r>
            <a:endParaRPr lang="en-US" sz="1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054199-583E-C5CA-B4C0-3F395086B08A}"/>
              </a:ext>
            </a:extLst>
          </p:cNvPr>
          <p:cNvSpPr txBox="1"/>
          <p:nvPr/>
        </p:nvSpPr>
        <p:spPr>
          <a:xfrm>
            <a:off x="6166379" y="3330755"/>
            <a:ext cx="24468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Domain Knowledge</a:t>
            </a:r>
            <a:endParaRPr lang="en-US" sz="1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556180-5D90-C597-3B76-DBA4877B9698}"/>
              </a:ext>
            </a:extLst>
          </p:cNvPr>
          <p:cNvSpPr txBox="1"/>
          <p:nvPr/>
        </p:nvSpPr>
        <p:spPr>
          <a:xfrm>
            <a:off x="8564879" y="3341712"/>
            <a:ext cx="22784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Exposure</a:t>
            </a:r>
            <a:endParaRPr lang="en-US" sz="15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C3E493-97EB-B135-436D-B03D1A68A1A6}"/>
              </a:ext>
            </a:extLst>
          </p:cNvPr>
          <p:cNvSpPr txBox="1"/>
          <p:nvPr/>
        </p:nvSpPr>
        <p:spPr>
          <a:xfrm>
            <a:off x="770043" y="3747875"/>
            <a:ext cx="1684867" cy="118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real telecom company runs its network operations, beyond classroom theory.</a:t>
            </a:r>
            <a:endParaRPr lang="en-US" sz="11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BBE7D8-64D3-1A57-615D-84A8A947CF3E}"/>
              </a:ext>
            </a:extLst>
          </p:cNvPr>
          <p:cNvSpPr txBox="1"/>
          <p:nvPr/>
        </p:nvSpPr>
        <p:spPr>
          <a:xfrm>
            <a:off x="3547533" y="3965261"/>
            <a:ext cx="2091267" cy="95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understanding of Cisco networking fundamentals used in enterprise/telecom setups.</a:t>
            </a:r>
            <a:endParaRPr lang="en-US" sz="11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A31504-6148-9466-824E-9FF18CFF4B72}"/>
              </a:ext>
            </a:extLst>
          </p:cNvPr>
          <p:cNvSpPr txBox="1"/>
          <p:nvPr/>
        </p:nvSpPr>
        <p:spPr>
          <a:xfrm>
            <a:off x="6096000" y="3957951"/>
            <a:ext cx="2091267" cy="95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basics of GSM network architecture and how mobile networks function end-to-end.</a:t>
            </a:r>
            <a:endParaRPr lang="en-US" sz="11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693006-3BEF-14C5-41BC-22E1DA610398}"/>
              </a:ext>
            </a:extLst>
          </p:cNvPr>
          <p:cNvSpPr txBox="1"/>
          <p:nvPr/>
        </p:nvSpPr>
        <p:spPr>
          <a:xfrm>
            <a:off x="8542862" y="3957950"/>
            <a:ext cx="2514600" cy="95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day-to-day operations, documentation practices, and team workflows in a live NOC-style environment.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10849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8197-D9A8-DD99-8BA5-62971307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Domain: Network Operations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60DCA043-5126-DA38-0F3F-67D775F6566F}"/>
              </a:ext>
            </a:extLst>
          </p:cNvPr>
          <p:cNvSpPr/>
          <p:nvPr/>
        </p:nvSpPr>
        <p:spPr>
          <a:xfrm>
            <a:off x="6390641" y="2780453"/>
            <a:ext cx="5577840" cy="3383280"/>
          </a:xfrm>
          <a:prstGeom prst="roundRect">
            <a:avLst>
              <a:gd name="adj" fmla="val 2162"/>
            </a:avLst>
          </a:prstGeom>
          <a:solidFill>
            <a:srgbClr val="F2F7F7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B093664A-FA34-86BE-3D1A-C23C6DD115A5}"/>
              </a:ext>
            </a:extLst>
          </p:cNvPr>
          <p:cNvSpPr/>
          <p:nvPr/>
        </p:nvSpPr>
        <p:spPr>
          <a:xfrm>
            <a:off x="412778" y="2780453"/>
            <a:ext cx="5577840" cy="3383280"/>
          </a:xfrm>
          <a:prstGeom prst="roundRect">
            <a:avLst>
              <a:gd name="adj" fmla="val 2162"/>
            </a:avLst>
          </a:prstGeom>
          <a:solidFill>
            <a:srgbClr val="F2F7F7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1EE6A2-9C59-38FC-6A75-865AD9D65222}"/>
              </a:ext>
            </a:extLst>
          </p:cNvPr>
          <p:cNvSpPr txBox="1"/>
          <p:nvPr/>
        </p:nvSpPr>
        <p:spPr>
          <a:xfrm>
            <a:off x="646110" y="1853248"/>
            <a:ext cx="10656889" cy="62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based in the Network Operations vertical, which sits at the intersection of enterprise networking and telecom (GSM) infrastructure.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9214E-276C-17A5-E657-24578004B432}"/>
              </a:ext>
            </a:extLst>
          </p:cNvPr>
          <p:cNvSpPr txBox="1"/>
          <p:nvPr/>
        </p:nvSpPr>
        <p:spPr>
          <a:xfrm>
            <a:off x="543757" y="288444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Networking</a:t>
            </a: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617D2-389A-3C21-7331-136711F74008}"/>
              </a:ext>
            </a:extLst>
          </p:cNvPr>
          <p:cNvSpPr txBox="1"/>
          <p:nvPr/>
        </p:nvSpPr>
        <p:spPr>
          <a:xfrm>
            <a:off x="810087" y="3429000"/>
            <a:ext cx="6094520" cy="17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5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Cisco routers, switches &amp; IOS concepts
• IP addressing &amp; subnetting basics
• Routing vs. switching fundamentals
• Network topology &amp; documentation</a:t>
            </a:r>
            <a:endParaRPr lang="en-US" sz="18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59629-6437-70E3-CBAE-135FA4159B21}"/>
              </a:ext>
            </a:extLst>
          </p:cNvPr>
          <p:cNvSpPr txBox="1"/>
          <p:nvPr/>
        </p:nvSpPr>
        <p:spPr>
          <a:xfrm>
            <a:off x="6638277" y="288444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(GSM) Infrastructure</a:t>
            </a: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0996FA-5B67-4E43-31D8-D68F05AC245B}"/>
              </a:ext>
            </a:extLst>
          </p:cNvPr>
          <p:cNvSpPr txBox="1"/>
          <p:nvPr/>
        </p:nvSpPr>
        <p:spPr>
          <a:xfrm>
            <a:off x="6638277" y="3429000"/>
            <a:ext cx="6365288" cy="17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GSM network architecture (BTS, BSC, MSC)
• Basics of mobile call flow
• Role of network operations in uptime
• How enterprise &amp; telecom networks interlink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742876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C8DF-850A-2A08-DC28-8E38959C8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Networking — Concepts Learned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3A251-2D57-E899-9C07-D75BCC5660A1}"/>
              </a:ext>
            </a:extLst>
          </p:cNvPr>
          <p:cNvSpPr txBox="1"/>
          <p:nvPr/>
        </p:nvSpPr>
        <p:spPr>
          <a:xfrm>
            <a:off x="646110" y="1942402"/>
            <a:ext cx="10113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primarily a theoretical / conceptual learning track — building a foundation in Cisco networking without live device configuration.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930C921-FCB4-9C0B-57A8-664362A2352A}"/>
              </a:ext>
            </a:extLst>
          </p:cNvPr>
          <p:cNvSpPr/>
          <p:nvPr/>
        </p:nvSpPr>
        <p:spPr>
          <a:xfrm>
            <a:off x="727969" y="2829429"/>
            <a:ext cx="639192" cy="646331"/>
          </a:xfrm>
          <a:prstGeom prst="flowChartConnector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EFEA3F1-8776-117A-0C0C-D62269E88CAB}"/>
              </a:ext>
            </a:extLst>
          </p:cNvPr>
          <p:cNvSpPr/>
          <p:nvPr/>
        </p:nvSpPr>
        <p:spPr>
          <a:xfrm>
            <a:off x="727969" y="5490510"/>
            <a:ext cx="639192" cy="646331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86E8CA5-9ED2-E968-D2DC-78D0DB159209}"/>
              </a:ext>
            </a:extLst>
          </p:cNvPr>
          <p:cNvSpPr/>
          <p:nvPr/>
        </p:nvSpPr>
        <p:spPr>
          <a:xfrm>
            <a:off x="727969" y="4603483"/>
            <a:ext cx="639192" cy="646331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13B4C1CD-3DEA-113F-043B-5DB9FBCE55E7}"/>
              </a:ext>
            </a:extLst>
          </p:cNvPr>
          <p:cNvSpPr/>
          <p:nvPr/>
        </p:nvSpPr>
        <p:spPr>
          <a:xfrm>
            <a:off x="727969" y="3716456"/>
            <a:ext cx="639192" cy="646331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E2AFF-809E-7FC2-E4C1-3A9E76119872}"/>
              </a:ext>
            </a:extLst>
          </p:cNvPr>
          <p:cNvSpPr txBox="1"/>
          <p:nvPr/>
        </p:nvSpPr>
        <p:spPr>
          <a:xfrm>
            <a:off x="1432560" y="2950193"/>
            <a:ext cx="6096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Devices</a:t>
            </a:r>
            <a:endParaRPr lang="en-US" sz="1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2CF314-5C6D-08B8-51B6-0C294D569659}"/>
              </a:ext>
            </a:extLst>
          </p:cNvPr>
          <p:cNvSpPr txBox="1"/>
          <p:nvPr/>
        </p:nvSpPr>
        <p:spPr>
          <a:xfrm>
            <a:off x="1432560" y="3862649"/>
            <a:ext cx="6096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</a:t>
            </a:r>
            <a:endParaRPr lang="en-US" sz="1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8E880-BD88-345E-A029-6B3AEC065F91}"/>
              </a:ext>
            </a:extLst>
          </p:cNvPr>
          <p:cNvSpPr txBox="1"/>
          <p:nvPr/>
        </p:nvSpPr>
        <p:spPr>
          <a:xfrm>
            <a:off x="1432560" y="4680965"/>
            <a:ext cx="6096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&amp; Switching</a:t>
            </a:r>
            <a:endParaRPr lang="en-US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AFB07F-6590-388B-9D3E-9268BA5BE1E1}"/>
              </a:ext>
            </a:extLst>
          </p:cNvPr>
          <p:cNvSpPr txBox="1"/>
          <p:nvPr/>
        </p:nvSpPr>
        <p:spPr>
          <a:xfrm>
            <a:off x="1432560" y="5580125"/>
            <a:ext cx="6096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IOS Basics</a:t>
            </a:r>
            <a:endParaRPr lang="en-US" sz="1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2AD26-1FFD-CB85-071C-E6DF8588EFCB}"/>
              </a:ext>
            </a:extLst>
          </p:cNvPr>
          <p:cNvSpPr txBox="1"/>
          <p:nvPr/>
        </p:nvSpPr>
        <p:spPr>
          <a:xfrm>
            <a:off x="3756660" y="2897569"/>
            <a:ext cx="8801100" cy="7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role of routers and switches in an enterprise network, and how Cisco devices fit into that setup.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F4D1E1-F283-ABBD-CB05-2E493B102813}"/>
              </a:ext>
            </a:extLst>
          </p:cNvPr>
          <p:cNvSpPr txBox="1"/>
          <p:nvPr/>
        </p:nvSpPr>
        <p:spPr>
          <a:xfrm>
            <a:off x="3771954" y="3728388"/>
            <a:ext cx="8061906" cy="7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Learned IPv4 addressing, subnetting basics, and how devices are logically organized on a network.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3DC266-82EE-11F8-5A74-EFB4A0C28C66}"/>
              </a:ext>
            </a:extLst>
          </p:cNvPr>
          <p:cNvSpPr txBox="1"/>
          <p:nvPr/>
        </p:nvSpPr>
        <p:spPr>
          <a:xfrm>
            <a:off x="3771954" y="4640051"/>
            <a:ext cx="8115246" cy="7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conceptual difference between routing (between networks) and switching (within a network).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B13A2-C3B9-71DA-BBC6-50CF786A00D7}"/>
              </a:ext>
            </a:extLst>
          </p:cNvPr>
          <p:cNvSpPr txBox="1"/>
          <p:nvPr/>
        </p:nvSpPr>
        <p:spPr>
          <a:xfrm>
            <a:off x="3771954" y="5526506"/>
            <a:ext cx="7406586" cy="7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Got introduced to the Cisco IOS command-line environment and common configuration terminology.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9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6B0D-3D21-053E-B5DE-6DD2B77B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 Network Fundamentals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2E396-675B-F62A-7A8E-DD4004B73BFC}"/>
              </a:ext>
            </a:extLst>
          </p:cNvPr>
          <p:cNvSpPr txBox="1"/>
          <p:nvPr/>
        </p:nvSpPr>
        <p:spPr>
          <a:xfrm>
            <a:off x="646111" y="1346285"/>
            <a:ext cx="7450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how a mobile (GSM) network is structured, from the handset to the core network.</a:t>
            </a:r>
            <a:endParaRPr lang="en-US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6E51106-2C61-BA0B-E3EC-62E928D3FE31}"/>
              </a:ext>
            </a:extLst>
          </p:cNvPr>
          <p:cNvSpPr/>
          <p:nvPr/>
        </p:nvSpPr>
        <p:spPr>
          <a:xfrm>
            <a:off x="794173" y="2604936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185C4D8-8C35-3FA2-B90E-D3C37033B42D}"/>
              </a:ext>
            </a:extLst>
          </p:cNvPr>
          <p:cNvSpPr/>
          <p:nvPr/>
        </p:nvSpPr>
        <p:spPr>
          <a:xfrm>
            <a:off x="794173" y="2604936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3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06ED4E9-3661-4B1A-2143-E98694C54D77}"/>
              </a:ext>
            </a:extLst>
          </p:cNvPr>
          <p:cNvSpPr/>
          <p:nvPr/>
        </p:nvSpPr>
        <p:spPr>
          <a:xfrm>
            <a:off x="2531533" y="3107856"/>
            <a:ext cx="59436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8C8BA383-E0A4-88C2-6CD9-49D7524FD043}"/>
              </a:ext>
            </a:extLst>
          </p:cNvPr>
          <p:cNvSpPr/>
          <p:nvPr/>
        </p:nvSpPr>
        <p:spPr>
          <a:xfrm>
            <a:off x="3125893" y="2604936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848CB3BE-CA56-7075-DB49-8CA66E91B00A}"/>
              </a:ext>
            </a:extLst>
          </p:cNvPr>
          <p:cNvSpPr/>
          <p:nvPr/>
        </p:nvSpPr>
        <p:spPr>
          <a:xfrm>
            <a:off x="3125893" y="2604936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</a:t>
            </a:r>
            <a:endParaRPr lang="en-US" sz="13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5BE33384-0CD4-793D-92D4-30B1DE202BC4}"/>
              </a:ext>
            </a:extLst>
          </p:cNvPr>
          <p:cNvSpPr/>
          <p:nvPr/>
        </p:nvSpPr>
        <p:spPr>
          <a:xfrm>
            <a:off x="4863253" y="3107856"/>
            <a:ext cx="59436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2B448587-1426-9066-7BDA-22395A4982D8}"/>
              </a:ext>
            </a:extLst>
          </p:cNvPr>
          <p:cNvSpPr/>
          <p:nvPr/>
        </p:nvSpPr>
        <p:spPr>
          <a:xfrm>
            <a:off x="5457613" y="2604936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A2B2FC8B-9E29-FC7C-EC65-FAD10EE47665}"/>
              </a:ext>
            </a:extLst>
          </p:cNvPr>
          <p:cNvSpPr/>
          <p:nvPr/>
        </p:nvSpPr>
        <p:spPr>
          <a:xfrm>
            <a:off x="5457613" y="2604936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</a:t>
            </a:r>
            <a:endParaRPr lang="en-US" sz="13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60FD526C-61F8-2B18-F976-8A7AF62EAF01}"/>
              </a:ext>
            </a:extLst>
          </p:cNvPr>
          <p:cNvSpPr/>
          <p:nvPr/>
        </p:nvSpPr>
        <p:spPr>
          <a:xfrm>
            <a:off x="7194973" y="3107856"/>
            <a:ext cx="59436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08B79D80-ADCA-61BC-58B4-178529F8951D}"/>
              </a:ext>
            </a:extLst>
          </p:cNvPr>
          <p:cNvSpPr/>
          <p:nvPr/>
        </p:nvSpPr>
        <p:spPr>
          <a:xfrm>
            <a:off x="7789333" y="2604936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3C2A3C3D-470B-7EF6-609D-90C5038DB50D}"/>
              </a:ext>
            </a:extLst>
          </p:cNvPr>
          <p:cNvSpPr/>
          <p:nvPr/>
        </p:nvSpPr>
        <p:spPr>
          <a:xfrm>
            <a:off x="7789333" y="2604936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6214E050-49F7-876B-9F44-96A46CF8595F}"/>
              </a:ext>
            </a:extLst>
          </p:cNvPr>
          <p:cNvSpPr/>
          <p:nvPr/>
        </p:nvSpPr>
        <p:spPr>
          <a:xfrm>
            <a:off x="9526693" y="3107856"/>
            <a:ext cx="59436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15A93390-23E0-135C-514E-F1882F0B01A5}"/>
              </a:ext>
            </a:extLst>
          </p:cNvPr>
          <p:cNvSpPr/>
          <p:nvPr/>
        </p:nvSpPr>
        <p:spPr>
          <a:xfrm>
            <a:off x="10121053" y="2604936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EA900A-F2F1-6F35-8BBE-2AC315D3E6BE}"/>
              </a:ext>
            </a:extLst>
          </p:cNvPr>
          <p:cNvSpPr txBox="1"/>
          <p:nvPr/>
        </p:nvSpPr>
        <p:spPr>
          <a:xfrm>
            <a:off x="7941733" y="2886183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F23270-6664-F731-EFC2-99791D2006C7}"/>
              </a:ext>
            </a:extLst>
          </p:cNvPr>
          <p:cNvSpPr txBox="1"/>
          <p:nvPr/>
        </p:nvSpPr>
        <p:spPr>
          <a:xfrm>
            <a:off x="1838918" y="4411561"/>
            <a:ext cx="7019108" cy="33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8D82FF9-A10C-4670-CB31-4BE51F0AB7ED}"/>
              </a:ext>
            </a:extLst>
          </p:cNvPr>
          <p:cNvSpPr/>
          <p:nvPr/>
        </p:nvSpPr>
        <p:spPr>
          <a:xfrm>
            <a:off x="1011887" y="4280394"/>
            <a:ext cx="10389326" cy="2124888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(Base Transceiver Station): </a:t>
            </a:r>
            <a:r>
              <a:rPr lang="en-US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radio communication with mobile handsets.
</a:t>
            </a:r>
            <a:r>
              <a:rPr lang="en-US" b="1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(Base Station Controller): </a:t>
            </a:r>
            <a:r>
              <a:rPr lang="en-US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multiple BTS units and handles handovers.
</a:t>
            </a:r>
            <a:r>
              <a:rPr lang="en-US" b="1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(Mobile Switching Center): </a:t>
            </a:r>
            <a:r>
              <a:rPr lang="en-US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calls and connects the network to other telecom systems</a:t>
            </a:r>
            <a:endParaRPr lang="en-IN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02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ED0D-7301-015B-62C3-F9A97859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Day-to-Day Activities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E1E77850-3498-DFBD-D949-67BD2EB749BC}"/>
              </a:ext>
            </a:extLst>
          </p:cNvPr>
          <p:cNvSpPr/>
          <p:nvPr/>
        </p:nvSpPr>
        <p:spPr>
          <a:xfrm>
            <a:off x="453770" y="2063282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471085F8-7B9A-6B30-ED67-BF706FB3652A}"/>
              </a:ext>
            </a:extLst>
          </p:cNvPr>
          <p:cNvSpPr/>
          <p:nvPr/>
        </p:nvSpPr>
        <p:spPr>
          <a:xfrm>
            <a:off x="3274885" y="2070501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D72B8BF5-22AB-B871-45C0-1531A3577752}"/>
              </a:ext>
            </a:extLst>
          </p:cNvPr>
          <p:cNvSpPr/>
          <p:nvPr/>
        </p:nvSpPr>
        <p:spPr>
          <a:xfrm>
            <a:off x="6096000" y="2070501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A4F15375-73EB-35F3-C198-BEE3F760BE22}"/>
              </a:ext>
            </a:extLst>
          </p:cNvPr>
          <p:cNvSpPr/>
          <p:nvPr/>
        </p:nvSpPr>
        <p:spPr>
          <a:xfrm>
            <a:off x="8917115" y="2063282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C91AE0E0-5AE5-3769-4533-E2EBFEF92A7D}"/>
              </a:ext>
            </a:extLst>
          </p:cNvPr>
          <p:cNvSpPr/>
          <p:nvPr/>
        </p:nvSpPr>
        <p:spPr>
          <a:xfrm>
            <a:off x="646111" y="2269067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r>
              <a:rPr lang="en-US" dirty="0"/>
              <a:t>1</a:t>
            </a:r>
          </a:p>
          <a:p>
            <a:endParaRPr lang="en-IN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DE74F50A-C15B-8090-7876-23F47E1A01F4}"/>
              </a:ext>
            </a:extLst>
          </p:cNvPr>
          <p:cNvSpPr/>
          <p:nvPr/>
        </p:nvSpPr>
        <p:spPr>
          <a:xfrm>
            <a:off x="9055526" y="224705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r>
              <a:rPr lang="en-US" dirty="0"/>
              <a:t>4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CE56100E-16BD-33AE-6B76-DCD27F01D616}"/>
              </a:ext>
            </a:extLst>
          </p:cNvPr>
          <p:cNvSpPr/>
          <p:nvPr/>
        </p:nvSpPr>
        <p:spPr>
          <a:xfrm>
            <a:off x="6232562" y="224705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r>
              <a:rPr lang="en-US" dirty="0"/>
              <a:t>3</a:t>
            </a:r>
          </a:p>
          <a:p>
            <a:endParaRPr lang="en-IN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4B17B008-8E43-5D62-36D8-4C9AF0C29EE3}"/>
              </a:ext>
            </a:extLst>
          </p:cNvPr>
          <p:cNvSpPr/>
          <p:nvPr/>
        </p:nvSpPr>
        <p:spPr>
          <a:xfrm>
            <a:off x="3415144" y="2299547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r>
              <a:rPr lang="en-US" dirty="0"/>
              <a:t>2</a:t>
            </a:r>
          </a:p>
          <a:p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F7A5D5-E3DE-C687-0D7F-4C652F092702}"/>
              </a:ext>
            </a:extLst>
          </p:cNvPr>
          <p:cNvSpPr txBox="1"/>
          <p:nvPr/>
        </p:nvSpPr>
        <p:spPr>
          <a:xfrm>
            <a:off x="904218" y="3034960"/>
            <a:ext cx="2370667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Sessions</a:t>
            </a:r>
            <a:endParaRPr lang="en-US" sz="14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75A613-D7DE-5855-5E84-348698F235A0}"/>
              </a:ext>
            </a:extLst>
          </p:cNvPr>
          <p:cNvSpPr txBox="1"/>
          <p:nvPr/>
        </p:nvSpPr>
        <p:spPr>
          <a:xfrm>
            <a:off x="3689464" y="3034959"/>
            <a:ext cx="20320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Tasks</a:t>
            </a:r>
            <a:endParaRPr lang="en-US" sz="14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C8EE42-698F-E909-EEBC-A26C40A3028B}"/>
              </a:ext>
            </a:extLst>
          </p:cNvPr>
          <p:cNvSpPr txBox="1"/>
          <p:nvPr/>
        </p:nvSpPr>
        <p:spPr>
          <a:xfrm>
            <a:off x="6781202" y="3034958"/>
            <a:ext cx="18542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Shadowing</a:t>
            </a:r>
            <a:endParaRPr lang="en-US" sz="14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57BB09-81CA-1B2E-A72C-62A85DE30635}"/>
              </a:ext>
            </a:extLst>
          </p:cNvPr>
          <p:cNvSpPr txBox="1"/>
          <p:nvPr/>
        </p:nvSpPr>
        <p:spPr>
          <a:xfrm>
            <a:off x="9064766" y="3034957"/>
            <a:ext cx="2673464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Support</a:t>
            </a:r>
            <a:endParaRPr lang="en-US" sz="14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B8F810-E321-6CD1-CC07-C4381BA339EA}"/>
              </a:ext>
            </a:extLst>
          </p:cNvPr>
          <p:cNvSpPr txBox="1"/>
          <p:nvPr/>
        </p:nvSpPr>
        <p:spPr>
          <a:xfrm>
            <a:off x="805962" y="3769562"/>
            <a:ext cx="2567178" cy="76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structured sessions on networking and GSM concepts conducted by the team.</a:t>
            </a:r>
            <a:endParaRPr lang="en-US" sz="11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B05B85-985B-A5C7-D676-D4E8D8234625}"/>
              </a:ext>
            </a:extLst>
          </p:cNvPr>
          <p:cNvSpPr txBox="1"/>
          <p:nvPr/>
        </p:nvSpPr>
        <p:spPr>
          <a:xfrm>
            <a:off x="3650868" y="3727353"/>
            <a:ext cx="1913467" cy="992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select hands-on exercises to reinforce concepts covered in learning sessions.</a:t>
            </a:r>
            <a:endParaRPr lang="en-US" sz="11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C8258C-3DAA-6DBF-B154-FB5BEE404489}"/>
              </a:ext>
            </a:extLst>
          </p:cNvPr>
          <p:cNvSpPr txBox="1"/>
          <p:nvPr/>
        </p:nvSpPr>
        <p:spPr>
          <a:xfrm>
            <a:off x="6620933" y="3607957"/>
            <a:ext cx="1718733" cy="992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engineers handling network monitoring and operational discussions.</a:t>
            </a:r>
            <a:endParaRPr lang="en-US" sz="115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7CF411-3073-3D11-8CCE-D1D5B6622444}"/>
              </a:ext>
            </a:extLst>
          </p:cNvPr>
          <p:cNvSpPr txBox="1"/>
          <p:nvPr/>
        </p:nvSpPr>
        <p:spPr>
          <a:xfrm>
            <a:off x="8957458" y="3727353"/>
            <a:ext cx="2653804" cy="76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with organizing notes and reference material on networking topics covered.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82472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AC8C-BF17-6304-83A2-2D75644C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350953-D923-D925-FA3E-9178525FE961}"/>
              </a:ext>
            </a:extLst>
          </p:cNvPr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FD90FBE-0BDD-C4CB-F412-055D92E5159A}"/>
              </a:ext>
            </a:extLst>
          </p:cNvPr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B571CF-ECC3-AD84-B6B1-4A2A9D8631FB}"/>
              </a:ext>
            </a:extLst>
          </p:cNvPr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2066ACC-B57B-3848-179A-2D06A4A8C3EE}"/>
              </a:ext>
            </a:extLst>
          </p:cNvPr>
          <p:cNvSpPr/>
          <p:nvPr/>
        </p:nvSpPr>
        <p:spPr>
          <a:xfrm>
            <a:off x="155448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IOS / Concepts</a:t>
            </a:r>
            <a:endParaRPr lang="en-US" sz="1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B4A1FD8-9A13-F1C3-0D21-2DCEB9930A73}"/>
              </a:ext>
            </a:extLst>
          </p:cNvPr>
          <p:cNvSpPr/>
          <p:nvPr/>
        </p:nvSpPr>
        <p:spPr>
          <a:xfrm>
            <a:off x="4937760" y="20299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fundamentals and device configuration terminology.</a:t>
            </a:r>
            <a:endParaRPr lang="en-US" sz="12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935975D4-AA51-3C6B-1171-2C63945E1393}"/>
              </a:ext>
            </a:extLst>
          </p:cNvPr>
          <p:cNvSpPr/>
          <p:nvPr/>
        </p:nvSpPr>
        <p:spPr>
          <a:xfrm>
            <a:off x="548640" y="2971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76D16F44-50D7-9E78-664D-A3B3E464D2FD}"/>
              </a:ext>
            </a:extLst>
          </p:cNvPr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9E6D136-4895-0AD6-7BF9-4D8411ED414A}"/>
              </a:ext>
            </a:extLst>
          </p:cNvPr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C93367C-333E-F9C8-0775-4B11523945AD}"/>
              </a:ext>
            </a:extLst>
          </p:cNvPr>
          <p:cNvSpPr/>
          <p:nvPr/>
        </p:nvSpPr>
        <p:spPr>
          <a:xfrm>
            <a:off x="1554480" y="3081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 Architecture Models</a:t>
            </a:r>
            <a:endParaRPr lang="en-US" sz="14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D9395174-A0B3-F293-70E1-F59CDF8B0D04}"/>
              </a:ext>
            </a:extLst>
          </p:cNvPr>
          <p:cNvSpPr/>
          <p:nvPr/>
        </p:nvSpPr>
        <p:spPr>
          <a:xfrm>
            <a:off x="4937760" y="30815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diagrams and material explaining mobile network structure.</a:t>
            </a:r>
            <a:endParaRPr lang="en-US" sz="125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4D56781-5D3F-8306-41D0-8046B3CE3118}"/>
              </a:ext>
            </a:extLst>
          </p:cNvPr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8F358272-4898-FF98-7A77-7554FA45DEB0}"/>
              </a:ext>
            </a:extLst>
          </p:cNvPr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574269A5-006F-49EB-C02C-79D7B41CFF2F}"/>
              </a:ext>
            </a:extLst>
          </p:cNvPr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7E138999-1309-3EEC-73A3-80DFBEF1C23F}"/>
              </a:ext>
            </a:extLst>
          </p:cNvPr>
          <p:cNvSpPr/>
          <p:nvPr/>
        </p:nvSpPr>
        <p:spPr>
          <a:xfrm>
            <a:off x="1554480" y="41330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Office (Excel/Word)</a:t>
            </a:r>
            <a:endParaRPr lang="en-US" sz="14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2BD91328-5DF4-8B38-6111-DAD85978BC6F}"/>
              </a:ext>
            </a:extLst>
          </p:cNvPr>
          <p:cNvSpPr/>
          <p:nvPr/>
        </p:nvSpPr>
        <p:spPr>
          <a:xfrm>
            <a:off x="4937760" y="413308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notes, documentation, and organizing learning material.</a:t>
            </a:r>
            <a:endParaRPr lang="en-US" sz="125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748083B5-785C-FF49-9543-11253ED4DA52}"/>
              </a:ext>
            </a:extLst>
          </p:cNvPr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DC8F9977-86FD-7A10-639F-4E435569874B}"/>
              </a:ext>
            </a:extLst>
          </p:cNvPr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027B9B81-7476-D210-1063-2EB2EA757154}"/>
              </a:ext>
            </a:extLst>
          </p:cNvPr>
          <p:cNvSpPr/>
          <p:nvPr/>
        </p:nvSpPr>
        <p:spPr>
          <a:xfrm>
            <a:off x="82296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8D41D5C9-D06A-33AC-0C0A-F844944602E1}"/>
              </a:ext>
            </a:extLst>
          </p:cNvPr>
          <p:cNvSpPr/>
          <p:nvPr/>
        </p:nvSpPr>
        <p:spPr>
          <a:xfrm>
            <a:off x="1554480" y="5184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Reference Material</a:t>
            </a:r>
            <a:endParaRPr lang="en-US" sz="1400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27B53009-8B82-2915-3A20-27BEF637C5F8}"/>
              </a:ext>
            </a:extLst>
          </p:cNvPr>
          <p:cNvSpPr/>
          <p:nvPr/>
        </p:nvSpPr>
        <p:spPr>
          <a:xfrm>
            <a:off x="4937760" y="51846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Company-provided training content on telecom network operations.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24168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AC7C-C2FB-31A6-AB6B-9A75507D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br>
              <a:rPr lang="en-US" sz="4400" dirty="0"/>
            </a:br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64737B7-7D02-1599-1BC8-09F9CA3852D0}"/>
              </a:ext>
            </a:extLst>
          </p:cNvPr>
          <p:cNvSpPr/>
          <p:nvPr/>
        </p:nvSpPr>
        <p:spPr>
          <a:xfrm>
            <a:off x="548640" y="1965960"/>
            <a:ext cx="82296" cy="6400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BA0B79C-9296-8FEA-8B8A-BA3D94A52386}"/>
              </a:ext>
            </a:extLst>
          </p:cNvPr>
          <p:cNvSpPr/>
          <p:nvPr/>
        </p:nvSpPr>
        <p:spPr>
          <a:xfrm>
            <a:off x="548640" y="2834640"/>
            <a:ext cx="82296" cy="6400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2D55AF-68C8-B71D-514E-C8D71A373745}"/>
              </a:ext>
            </a:extLst>
          </p:cNvPr>
          <p:cNvSpPr/>
          <p:nvPr/>
        </p:nvSpPr>
        <p:spPr>
          <a:xfrm>
            <a:off x="548640" y="3703320"/>
            <a:ext cx="82296" cy="6400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6ECF70-BEAB-3DD7-5261-510C7FAFA8A8}"/>
              </a:ext>
            </a:extLst>
          </p:cNvPr>
          <p:cNvSpPr/>
          <p:nvPr/>
        </p:nvSpPr>
        <p:spPr>
          <a:xfrm>
            <a:off x="548640" y="4572000"/>
            <a:ext cx="82296" cy="6400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95155FC-A104-FEF4-4A75-63248FE2E3B2}"/>
              </a:ext>
            </a:extLst>
          </p:cNvPr>
          <p:cNvSpPr/>
          <p:nvPr/>
        </p:nvSpPr>
        <p:spPr>
          <a:xfrm>
            <a:off x="548640" y="5440680"/>
            <a:ext cx="82296" cy="6400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1AABE1-183D-FBAD-99AF-0E6C64933C7D}"/>
              </a:ext>
            </a:extLst>
          </p:cNvPr>
          <p:cNvSpPr txBox="1"/>
          <p:nvPr/>
        </p:nvSpPr>
        <p:spPr>
          <a:xfrm>
            <a:off x="1007534" y="2056726"/>
            <a:ext cx="8746066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grounding in Cisco networking fundamentals (routing, switching, IP addressing).</a:t>
            </a: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1352E6-1604-C4EB-593C-37A69A0C1D23}"/>
              </a:ext>
            </a:extLst>
          </p:cNvPr>
          <p:cNvSpPr txBox="1"/>
          <p:nvPr/>
        </p:nvSpPr>
        <p:spPr>
          <a:xfrm>
            <a:off x="1007534" y="2975785"/>
            <a:ext cx="7933267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GSM network architecture and how mobile networks operate.</a:t>
            </a:r>
            <a:endParaRPr 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FFA369-F4E4-EF42-D97F-453E5A1BA854}"/>
              </a:ext>
            </a:extLst>
          </p:cNvPr>
          <p:cNvSpPr txBox="1"/>
          <p:nvPr/>
        </p:nvSpPr>
        <p:spPr>
          <a:xfrm>
            <a:off x="1007534" y="3844465"/>
            <a:ext cx="6096000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how a real telecom company structures its network operations.</a:t>
            </a:r>
            <a:endParaRPr lang="en-US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A738E3-537F-E18D-3B04-0A1E8A706FF7}"/>
              </a:ext>
            </a:extLst>
          </p:cNvPr>
          <p:cNvSpPr txBox="1"/>
          <p:nvPr/>
        </p:nvSpPr>
        <p:spPr>
          <a:xfrm>
            <a:off x="1007534" y="4713145"/>
            <a:ext cx="6096000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technical documentation and note-organization habits.</a:t>
            </a:r>
            <a:endParaRPr lang="en-US" sz="1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82593-1DBC-B0DD-49E9-A37F6ADE2B84}"/>
              </a:ext>
            </a:extLst>
          </p:cNvPr>
          <p:cNvSpPr txBox="1"/>
          <p:nvPr/>
        </p:nvSpPr>
        <p:spPr>
          <a:xfrm>
            <a:off x="1007534" y="5581825"/>
            <a:ext cx="7002834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professional workplace communication and teamwork.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4028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F9EE-2AE6-B633-8C47-1F88064E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2E9E5E-1E7A-52BF-C615-50623A0A6992}"/>
              </a:ext>
            </a:extLst>
          </p:cNvPr>
          <p:cNvSpPr/>
          <p:nvPr/>
        </p:nvSpPr>
        <p:spPr>
          <a:xfrm>
            <a:off x="548640" y="2103120"/>
            <a:ext cx="3453384" cy="3474720"/>
          </a:xfrm>
          <a:prstGeom prst="roundRect">
            <a:avLst>
              <a:gd name="adj" fmla="val 2118"/>
            </a:avLst>
          </a:prstGeom>
          <a:solidFill>
            <a:srgbClr val="F2F7F7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E3E774A-91CD-E1F1-57E0-65EEE2DE42FB}"/>
              </a:ext>
            </a:extLst>
          </p:cNvPr>
          <p:cNvSpPr/>
          <p:nvPr/>
        </p:nvSpPr>
        <p:spPr>
          <a:xfrm>
            <a:off x="82296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DBD8357-3DBD-1386-B221-0D9F075B1FE3}"/>
              </a:ext>
            </a:extLst>
          </p:cNvPr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63CD2FA-3A3F-0390-D539-B25E1949B345}"/>
              </a:ext>
            </a:extLst>
          </p:cNvPr>
          <p:cNvSpPr/>
          <p:nvPr/>
        </p:nvSpPr>
        <p:spPr>
          <a:xfrm>
            <a:off x="822960" y="310896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Terminology</a:t>
            </a:r>
            <a:endParaRPr lang="en-US" sz="15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6262852-1C32-B196-4667-E42CCFDFFCDF}"/>
              </a:ext>
            </a:extLst>
          </p:cNvPr>
          <p:cNvSpPr/>
          <p:nvPr/>
        </p:nvSpPr>
        <p:spPr>
          <a:xfrm>
            <a:off x="822960" y="3657600"/>
            <a:ext cx="2904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and GSM-specific terms were unfamiliar at first and took time to absorb.</a:t>
            </a:r>
            <a:endParaRPr lang="en-US" sz="12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9542B0A-E345-2233-DB90-FFD55172C1FD}"/>
              </a:ext>
            </a:extLst>
          </p:cNvPr>
          <p:cNvSpPr/>
          <p:nvPr/>
        </p:nvSpPr>
        <p:spPr>
          <a:xfrm>
            <a:off x="4367784" y="2103120"/>
            <a:ext cx="3453384" cy="3474720"/>
          </a:xfrm>
          <a:prstGeom prst="roundRect">
            <a:avLst>
              <a:gd name="adj" fmla="val 2118"/>
            </a:avLst>
          </a:prstGeom>
          <a:solidFill>
            <a:srgbClr val="F2F7F7"/>
          </a:solidFill>
          <a:ln/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2E8B6029-AA46-4A5D-CFD4-0AAF72B01CE1}"/>
              </a:ext>
            </a:extLst>
          </p:cNvPr>
          <p:cNvSpPr/>
          <p:nvPr/>
        </p:nvSpPr>
        <p:spPr>
          <a:xfrm>
            <a:off x="4642104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87C51CCE-54B2-62A9-8F72-BD626A37C420}"/>
              </a:ext>
            </a:extLst>
          </p:cNvPr>
          <p:cNvSpPr/>
          <p:nvPr/>
        </p:nvSpPr>
        <p:spPr>
          <a:xfrm>
            <a:off x="4642104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6553BA34-F939-ADB3-B9CF-18E76F9C5EB3}"/>
              </a:ext>
            </a:extLst>
          </p:cNvPr>
          <p:cNvSpPr/>
          <p:nvPr/>
        </p:nvSpPr>
        <p:spPr>
          <a:xfrm>
            <a:off x="4642104" y="310896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Without Live Practice</a:t>
            </a:r>
            <a:endParaRPr lang="en-US" sz="15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2CD4EDA1-92FA-B54B-A43B-DFD9CA9884A8}"/>
              </a:ext>
            </a:extLst>
          </p:cNvPr>
          <p:cNvSpPr/>
          <p:nvPr/>
        </p:nvSpPr>
        <p:spPr>
          <a:xfrm>
            <a:off x="4642104" y="3657600"/>
            <a:ext cx="2904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Cisco concepts without hands-on device access made some ideas harder to fully internalize.</a:t>
            </a:r>
            <a:endParaRPr lang="en-US" sz="125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0BBBF3BF-82A6-D350-9D54-2C319443FC0F}"/>
              </a:ext>
            </a:extLst>
          </p:cNvPr>
          <p:cNvSpPr/>
          <p:nvPr/>
        </p:nvSpPr>
        <p:spPr>
          <a:xfrm>
            <a:off x="8186928" y="2103120"/>
            <a:ext cx="3453384" cy="3474720"/>
          </a:xfrm>
          <a:prstGeom prst="roundRect">
            <a:avLst>
              <a:gd name="adj" fmla="val 2118"/>
            </a:avLst>
          </a:prstGeom>
          <a:solidFill>
            <a:srgbClr val="F2F7F7"/>
          </a:solidFill>
          <a:ln/>
        </p:spPr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CA12CC40-DA28-4BB9-E9F8-565058ACDEE9}"/>
              </a:ext>
            </a:extLst>
          </p:cNvPr>
          <p:cNvSpPr/>
          <p:nvPr/>
        </p:nvSpPr>
        <p:spPr>
          <a:xfrm>
            <a:off x="8461248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20CD86F3-77F6-5B1F-4CC8-6D00D2A56947}"/>
              </a:ext>
            </a:extLst>
          </p:cNvPr>
          <p:cNvSpPr/>
          <p:nvPr/>
        </p:nvSpPr>
        <p:spPr>
          <a:xfrm>
            <a:off x="8461248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E332A743-9E7C-07B3-0301-F65A6E7E5DBB}"/>
              </a:ext>
            </a:extLst>
          </p:cNvPr>
          <p:cNvSpPr/>
          <p:nvPr/>
        </p:nvSpPr>
        <p:spPr>
          <a:xfrm>
            <a:off x="8461248" y="310896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Duration</a:t>
            </a:r>
            <a:endParaRPr lang="en-US" sz="15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E167FAC7-524A-1AE1-DFEC-B485ED741B4E}"/>
              </a:ext>
            </a:extLst>
          </p:cNvPr>
          <p:cNvSpPr/>
          <p:nvPr/>
        </p:nvSpPr>
        <p:spPr>
          <a:xfrm>
            <a:off x="8461248" y="3657600"/>
            <a:ext cx="2904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window limited how deep the exposure to each topic could go.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09236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06435" y="4114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at COMM4 Telecom Pvt. Ltd. provided a valuable first look into the telecom networking industry — building a conceptual foundation in Cisco networking and GSM architecture, and offering exposure to how network operations function in a real organization.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laid a strong groundwork for further, deeper learning in networking and telecom systems.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0515600" cy="0"/>
          </a:xfrm>
          <a:prstGeom prst="line">
            <a:avLst/>
          </a:prstGeom>
          <a:noFill/>
          <a:ln w="12700">
            <a:solidFill>
              <a:srgbClr val="3A4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Shivi Panchal  |  B.Tech CSE,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619</TotalTime>
  <Words>788</Words>
  <Application>Microsoft Office PowerPoint</Application>
  <PresentationFormat>Widescreen</PresentationFormat>
  <Paragraphs>105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Calibri</vt:lpstr>
      <vt:lpstr>Californian FB</vt:lpstr>
      <vt:lpstr>Cambria</vt:lpstr>
      <vt:lpstr>Century Gothic</vt:lpstr>
      <vt:lpstr>Wingdings 3</vt:lpstr>
      <vt:lpstr>Ion</vt:lpstr>
      <vt:lpstr>Network Operations &amp; GSM at COMM4 Telecom Pvt. Ltd. </vt:lpstr>
      <vt:lpstr>About COMM4 Telecom Pvt. Ltd.</vt:lpstr>
      <vt:lpstr>           Objective of the Internship</vt:lpstr>
      <vt:lpstr>Internship Domain: Network Operations </vt:lpstr>
      <vt:lpstr>Cisco Networking — Concepts Learned </vt:lpstr>
      <vt:lpstr>GSM Network Fundamentals </vt:lpstr>
      <vt:lpstr>Day-to-Day Activities </vt:lpstr>
      <vt:lpstr>Tools &amp; Technologies </vt:lpstr>
      <vt:lpstr>Key Learnings &amp; Skills Gained </vt:lpstr>
      <vt:lpstr>Challenges Faced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Aaryan Chaudhary</dc:creator>
  <cp:lastModifiedBy>Aaryan Chaudhary</cp:lastModifiedBy>
  <cp:revision>5</cp:revision>
  <dcterms:created xsi:type="dcterms:W3CDTF">2026-08-25T03:52:43Z</dcterms:created>
  <dcterms:modified xsi:type="dcterms:W3CDTF">2026-08-28T12:59:08Z</dcterms:modified>
</cp:coreProperties>
</file>